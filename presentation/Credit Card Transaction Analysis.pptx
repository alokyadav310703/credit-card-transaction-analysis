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7" r:id="rId4"/>
    <p:sldId id="280" r:id="rId5"/>
    <p:sldId id="274" r:id="rId6"/>
    <p:sldId id="275" r:id="rId7"/>
    <p:sldId id="276" r:id="rId8"/>
    <p:sldId id="272" r:id="rId9"/>
    <p:sldId id="273" r:id="rId10"/>
    <p:sldId id="279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75A03-E81A-B7E3-288E-AF52CEBA87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856A49-E6E3-F1DE-FF6C-2982FDB52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F38AE-1F2D-4FA0-1265-5DCF5E167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EBD79-3B6F-E6FB-6C8F-FE030E258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C528D-C130-7809-DCB4-B237DCCD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49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FF005-BD95-20FF-89C2-5071B95D1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2EA4B-16CC-CC21-8C3E-A7DEE8986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5A936-492D-4754-F2E9-80BBCF817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8E824-60FD-A875-F350-6872F8B03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94C78-C4E7-4847-0094-E67391CC1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70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4B822-C46B-30D4-A9A0-ED4235984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9C2EB-5622-1A9B-3FA5-282D3C700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00F1D-691A-FEDD-8116-8D3CD590E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E03A5-3D80-5129-3338-C9EA03BD9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778EC-E5EF-E768-7784-3A475A26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74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4010C-CBB7-67B4-E91D-4394444E8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2777D-2680-91E3-C7F5-0BCE4DDF2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4DD2B-7D97-FDCB-3ED4-62049146A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01C34-0F58-EB05-680B-4C607DE78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8E1B2-9970-1F8C-C73D-13F9863CC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B39DF-90B2-1F69-A0D1-2F7D8CBAE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96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5F04-9EF4-2E91-2C4C-C7A5A5139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4FD27-A78D-36DE-B314-5C4FDC770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7F18ED-7B76-9EBF-F915-E9E812A6A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18BE1A-3DE9-C6B3-632E-5068AF52BB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B02A0A-499F-FFEC-F042-6640084739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8412CB-5D48-C183-90A5-7C4714FCF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16BFD3-B7CB-7809-831C-52C6C983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F93B0B-79E7-A1D4-F21D-09D00E67C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92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8B461-F0D7-3DD4-A163-51D63696E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4D9847-B852-9044-5CD2-F387638A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CDFC8-26F7-7CC3-B3C7-6EF4DA7D7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C0C85D-17B5-A37C-1C86-BB0A113F6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029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752612-2EA7-F9A9-1AA2-3A25F6840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C16B4-17B1-3B2D-B992-6778C0D43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ECA4D-29FF-B9B5-C01A-9EBF0D143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1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4D6CF-7CFC-3CF5-4B8D-08E3A84D3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89B70-8EE9-AF84-ED40-716B43467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BD855-313C-BEA6-ACF1-FD5B4CF761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4F4E6-1DAA-83D0-6406-B2F5D35B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DDC4B-4C50-9D59-4267-4D2C3D18E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023AF-C68D-E9F6-A021-8CA5EE9D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25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0F4A-7E7F-ED1C-D3EC-027911FFA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39711D-65B7-31EC-F1CB-56308529F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5A99F4-0543-D607-D8DE-C1BD8B3C5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7AEA20-9502-5FBF-295B-F5CFCB83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82BBB-CDF4-E906-031B-D7911B6F4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3F573-12CC-E1F4-7331-EE1C37E0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297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3F6D4-D2F2-B4CF-57C9-667081FD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4876D-A141-73ED-1C8C-E33E90503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F770C-1BBA-3D0C-F636-7963A75A0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974F0-3720-910A-D684-0B81EDF99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880D7-1F47-A5C5-C209-7621675CC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11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631D9C-2693-33EC-1EC2-E5A6BF9BB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134084-EC71-0FB5-8E0D-D8E14A764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69DB7-F31E-1CD5-B8DE-04C81E467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DB447-CF0D-4C0B-A987-E50BF758F84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C9ECA-8CF0-9DA9-6C99-7616DA008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4A8B2-B1A5-6954-D3AB-33D39509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12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70E9A5-B9B5-120F-319C-B4AB25615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3FD7B-10D0-6E88-2F6D-361EE35BD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16103-7DF6-BED7-733F-B096275249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DB447-CF0D-4C0B-A987-E50BF758F84D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AFF35-C243-BD1D-D053-FC0F878E1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B569A-727B-16BF-7174-D7B16C150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8D095-C6E6-4EE6-818C-9EA6AD790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46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0AD9-6CDD-0E2C-D4B5-24F9AC19F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99576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b="1" kern="1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Credit Card Transaction Analysis using 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5815D-1833-8DFB-9DAD-CB8616F3F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3871" y="3346399"/>
            <a:ext cx="6784258" cy="1655762"/>
          </a:xfrm>
        </p:spPr>
        <p:txBody>
          <a:bodyPr>
            <a:normAutofit/>
          </a:bodyPr>
          <a:lstStyle/>
          <a:p>
            <a:r>
              <a:rPr lang="en-US" b="1" kern="1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Insights into Spend by Card Type, Gender, Transaction volume by Card Type</a:t>
            </a:r>
          </a:p>
        </p:txBody>
      </p:sp>
    </p:spTree>
    <p:extLst>
      <p:ext uri="{BB962C8B-B14F-4D97-AF65-F5344CB8AC3E}">
        <p14:creationId xmlns:p14="http://schemas.microsoft.com/office/powerpoint/2010/main" val="3305641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BBC45D-5286-26A8-B113-3E54F7937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6532757-100E-5B51-C479-B21BF6F01C59}"/>
              </a:ext>
            </a:extLst>
          </p:cNvPr>
          <p:cNvSpPr txBox="1">
            <a:spLocks/>
          </p:cNvSpPr>
          <p:nvPr/>
        </p:nvSpPr>
        <p:spPr>
          <a:xfrm>
            <a:off x="183902" y="98324"/>
            <a:ext cx="7765322" cy="9635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Dataset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200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F1B73F5-F8A3-CD58-A25E-0F9608436372}"/>
              </a:ext>
            </a:extLst>
          </p:cNvPr>
          <p:cNvSpPr txBox="1">
            <a:spLocks/>
          </p:cNvSpPr>
          <p:nvPr/>
        </p:nvSpPr>
        <p:spPr>
          <a:xfrm>
            <a:off x="183902" y="1061885"/>
            <a:ext cx="11182188" cy="806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Dataset Name: </a:t>
            </a:r>
            <a:r>
              <a:rPr lang="en-US" sz="2000" b="1" kern="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Credit Card Transaction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US" sz="2000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Source: </a:t>
            </a: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Kaggle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3B7EA2C-4534-C914-CCB6-A1943C3989EC}"/>
              </a:ext>
            </a:extLst>
          </p:cNvPr>
          <p:cNvSpPr txBox="1">
            <a:spLocks/>
          </p:cNvSpPr>
          <p:nvPr/>
        </p:nvSpPr>
        <p:spPr>
          <a:xfrm>
            <a:off x="183902" y="2153265"/>
            <a:ext cx="7765322" cy="97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kern="100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F8B66DC-5617-F268-A4F7-1575DD125B83}"/>
              </a:ext>
            </a:extLst>
          </p:cNvPr>
          <p:cNvSpPr txBox="1">
            <a:spLocks/>
          </p:cNvSpPr>
          <p:nvPr/>
        </p:nvSpPr>
        <p:spPr>
          <a:xfrm>
            <a:off x="183902" y="2943775"/>
            <a:ext cx="7765322" cy="1581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Power BI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Excel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cleaning &amp;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4164928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A8343-C8F1-EEE3-8624-6676AB560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E433D8-EA98-B026-5B54-2378ED452343}"/>
              </a:ext>
            </a:extLst>
          </p:cNvPr>
          <p:cNvSpPr txBox="1"/>
          <p:nvPr/>
        </p:nvSpPr>
        <p:spPr>
          <a:xfrm>
            <a:off x="226141" y="184004"/>
            <a:ext cx="7546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Arial" panose="020B0604020202020204" pitchFamily="34" charset="0"/>
              </a:rPr>
              <a:t>Key 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098FF3-EB91-37E8-B256-BDD80210792F}"/>
              </a:ext>
            </a:extLst>
          </p:cNvPr>
          <p:cNvSpPr txBox="1"/>
          <p:nvPr/>
        </p:nvSpPr>
        <p:spPr>
          <a:xfrm>
            <a:off x="264324" y="768779"/>
            <a:ext cx="10779596" cy="5911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200"/>
              </a:spcBef>
              <a:spcAft>
                <a:spcPts val="500"/>
              </a:spcAft>
              <a:buNone/>
            </a:pPr>
            <a:r>
              <a:rPr lang="en-US" sz="2000" b="1" dirty="0"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1 Geographic Analysis</a:t>
            </a:r>
          </a:p>
          <a:p>
            <a:pPr marL="342900" marR="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Which cities generate the highest total credit card spend?</a:t>
            </a:r>
          </a:p>
          <a:p>
            <a:pPr marL="342900" marR="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Which cities have the highest average transaction value?</a:t>
            </a:r>
          </a:p>
          <a:p>
            <a:pPr marL="0" marR="0">
              <a:spcBef>
                <a:spcPts val="1200"/>
              </a:spcBef>
              <a:spcAft>
                <a:spcPts val="500"/>
              </a:spcAft>
              <a:buNone/>
            </a:pPr>
            <a:r>
              <a:rPr lang="en-US" sz="2000" b="1" dirty="0"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2 Customer Demographics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What is the spending split between male and female cardholders?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Which gender spends more in each expense category?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Are there city-specific gender spending patterns?</a:t>
            </a:r>
          </a:p>
          <a:p>
            <a:pPr marL="0" marR="0">
              <a:spcBef>
                <a:spcPts val="1200"/>
              </a:spcBef>
              <a:spcAft>
                <a:spcPts val="500"/>
              </a:spcAft>
              <a:buNone/>
            </a:pPr>
            <a:r>
              <a:rPr lang="en-US" sz="2000" b="1" dirty="0"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3 Card Type Analysis</a:t>
            </a:r>
          </a:p>
          <a:p>
            <a:pPr marL="342900" marR="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Which card type (Gold/Silver/Platinum/Signature) records the highest transaction volume?</a:t>
            </a:r>
          </a:p>
          <a:p>
            <a:pPr marL="342900" marR="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Which card type contributes most to total spend value?</a:t>
            </a:r>
          </a:p>
          <a:p>
            <a:pPr marL="342900" marR="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Is there a correlation between card type and expense category?</a:t>
            </a:r>
          </a:p>
          <a:p>
            <a:pPr>
              <a:spcBef>
                <a:spcPts val="1200"/>
              </a:spcBef>
              <a:spcAft>
                <a:spcPts val="500"/>
              </a:spcAft>
            </a:pPr>
            <a:r>
              <a:rPr lang="en-US" sz="2000" b="1" dirty="0">
                <a:solidFill>
                  <a:schemeClr val="accent4"/>
                </a:solidFill>
                <a:latin typeface="Arial" panose="020B0604020202020204" pitchFamily="34" charset="0"/>
              </a:rPr>
              <a:t>4 Spending Category Analysis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What is the most common expense category across all transactions?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Which category drives the highest spend value?</a:t>
            </a:r>
          </a:p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How do expense preferences vary across cities?</a:t>
            </a:r>
          </a:p>
          <a:p>
            <a:pPr marR="0" lvl="0">
              <a:spcBef>
                <a:spcPts val="300"/>
              </a:spcBef>
              <a:spcAft>
                <a:spcPts val="300"/>
              </a:spcAft>
            </a:pPr>
            <a:endParaRPr lang="en-US" sz="18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30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F373C8-6DB0-5F2F-A2D1-9460FD125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BF9877-EE45-0565-15D0-82EA5B0ADC4A}"/>
              </a:ext>
            </a:extLst>
          </p:cNvPr>
          <p:cNvSpPr txBox="1"/>
          <p:nvPr/>
        </p:nvSpPr>
        <p:spPr>
          <a:xfrm>
            <a:off x="226141" y="184004"/>
            <a:ext cx="75462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latin typeface="Arial" panose="020B0604020202020204" pitchFamily="34" charset="0"/>
              </a:rPr>
              <a:t>Key Business Requirement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DBFA21-1860-BF09-3352-E7E7CC87977E}"/>
              </a:ext>
            </a:extLst>
          </p:cNvPr>
          <p:cNvSpPr txBox="1"/>
          <p:nvPr/>
        </p:nvSpPr>
        <p:spPr>
          <a:xfrm>
            <a:off x="226141" y="863888"/>
            <a:ext cx="8917859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200"/>
              </a:spcBef>
              <a:spcAft>
                <a:spcPts val="500"/>
              </a:spcAft>
              <a:buNone/>
            </a:pPr>
            <a:r>
              <a:rPr lang="en-US" sz="2000" b="1" dirty="0">
                <a:solidFill>
                  <a:schemeClr val="accent4"/>
                </a:solidFill>
                <a:effectLst/>
                <a:latin typeface="Arial" panose="020B0604020202020204" pitchFamily="34" charset="0"/>
              </a:rPr>
              <a:t>5.Time-Series Trends</a:t>
            </a:r>
          </a:p>
          <a:p>
            <a:pPr marL="342900" marR="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What are the month-over-month and year-over-year spending trends?</a:t>
            </a:r>
          </a:p>
          <a:p>
            <a:pPr marL="342900" marR="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Are there seasonal spikes (e.g., festivals, holidays)?</a:t>
            </a:r>
          </a:p>
          <a:p>
            <a:pPr marL="342900" marR="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Which months record peak and lowest transaction volumes?</a:t>
            </a:r>
          </a:p>
        </p:txBody>
      </p:sp>
    </p:spTree>
    <p:extLst>
      <p:ext uri="{BB962C8B-B14F-4D97-AF65-F5344CB8AC3E}">
        <p14:creationId xmlns:p14="http://schemas.microsoft.com/office/powerpoint/2010/main" val="2801476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A93748-37A5-CB8C-C806-2D3DF9189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951DD2-9B4D-8936-5C3A-AAD3A4904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99009"/>
              </p:ext>
            </p:extLst>
          </p:nvPr>
        </p:nvGraphicFramePr>
        <p:xfrm>
          <a:off x="190314" y="1199536"/>
          <a:ext cx="2931414" cy="4582160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2931414">
                  <a:extLst>
                    <a:ext uri="{9D8B030D-6E8A-4147-A177-3AD203B41FA5}">
                      <a16:colId xmlns:a16="http://schemas.microsoft.com/office/drawing/2014/main" val="3837028400"/>
                    </a:ext>
                  </a:extLst>
                </a:gridCol>
              </a:tblGrid>
              <a:tr h="314667">
                <a:tc>
                  <a:txBody>
                    <a:bodyPr/>
                    <a:lstStyle/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Total Transaction Value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998605037"/>
                  </a:ext>
                </a:extLst>
              </a:tr>
              <a:tr h="314667">
                <a:tc>
                  <a:txBody>
                    <a:bodyPr/>
                    <a:lstStyle/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Total Number of Transactions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726057358"/>
                  </a:ext>
                </a:extLst>
              </a:tr>
              <a:tr h="314667">
                <a:tc>
                  <a:txBody>
                    <a:bodyPr/>
                    <a:lstStyle/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Average Transaction Value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284436371"/>
                  </a:ext>
                </a:extLst>
              </a:tr>
              <a:tr h="314667">
                <a:tc>
                  <a:txBody>
                    <a:bodyPr/>
                    <a:lstStyle/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Top Spending City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036455614"/>
                  </a:ext>
                </a:extLst>
              </a:tr>
              <a:tr h="314667">
                <a:tc>
                  <a:txBody>
                    <a:bodyPr/>
                    <a:lstStyle/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Gender Spend Split (%)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078618938"/>
                  </a:ext>
                </a:extLst>
              </a:tr>
              <a:tr h="314667">
                <a:tc>
                  <a:txBody>
                    <a:bodyPr/>
                    <a:lstStyle/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Month-over-Month Growth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069329453"/>
                  </a:ext>
                </a:extLst>
              </a:tr>
              <a:tr h="314667">
                <a:tc>
                  <a:txBody>
                    <a:bodyPr/>
                    <a:lstStyle/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Top Expense Category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289370210"/>
                  </a:ext>
                </a:extLst>
              </a:tr>
              <a:tr h="314667">
                <a:tc>
                  <a:txBody>
                    <a:bodyPr/>
                    <a:lstStyle/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Card Type Share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193925612"/>
                  </a:ext>
                </a:extLst>
              </a:tr>
              <a:tr h="314667">
                <a:tc>
                  <a:txBody>
                    <a:bodyPr/>
                    <a:lstStyle/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effectLst/>
                        </a:rPr>
                        <a:t>City-wise Average Spend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16532351"/>
                  </a:ext>
                </a:extLst>
              </a:tr>
              <a:tr h="314667">
                <a:tc>
                  <a:txBody>
                    <a:bodyPr/>
                    <a:lstStyle/>
                    <a:p>
                      <a:pPr marL="285750" marR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Spend by Category &amp; Gender</a:t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1520270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A9BE4AD-F3F2-7C13-B388-5C7BDA4A5039}"/>
              </a:ext>
            </a:extLst>
          </p:cNvPr>
          <p:cNvSpPr txBox="1"/>
          <p:nvPr/>
        </p:nvSpPr>
        <p:spPr>
          <a:xfrm>
            <a:off x="190314" y="297115"/>
            <a:ext cx="78033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Key</a:t>
            </a:r>
            <a:r>
              <a:rPr lang="en-US" sz="2800" b="1" dirty="0">
                <a:solidFill>
                  <a:schemeClr val="accent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3200" b="1" dirty="0">
                <a:solidFill>
                  <a:schemeClr val="accent4"/>
                </a:solidFill>
                <a:latin typeface="Arial" panose="020B0604020202020204" pitchFamily="34" charset="0"/>
              </a:rPr>
              <a:t>Performance</a:t>
            </a:r>
            <a:r>
              <a:rPr lang="en-US" sz="2800" b="1" dirty="0">
                <a:solidFill>
                  <a:schemeClr val="accent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Indicators (KPIs)</a:t>
            </a:r>
            <a:endParaRPr lang="en-US" sz="2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872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9F7149-D223-910E-99CB-5C536BBF3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B6157-239C-AF5E-65DA-97B6070222A9}"/>
              </a:ext>
            </a:extLst>
          </p:cNvPr>
          <p:cNvSpPr txBox="1">
            <a:spLocks/>
          </p:cNvSpPr>
          <p:nvPr/>
        </p:nvSpPr>
        <p:spPr>
          <a:xfrm>
            <a:off x="3264309" y="2815226"/>
            <a:ext cx="5781368" cy="122754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kern="100" dirty="0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Overview</a:t>
            </a:r>
          </a:p>
        </p:txBody>
      </p:sp>
    </p:spTree>
    <p:extLst>
      <p:ext uri="{BB962C8B-B14F-4D97-AF65-F5344CB8AC3E}">
        <p14:creationId xmlns:p14="http://schemas.microsoft.com/office/powerpoint/2010/main" val="216507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FDA492-92F6-0890-74D5-AEFAF8FE2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24319E-DD87-7835-3D0A-9B70E4C2C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924" y="0"/>
            <a:ext cx="111001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941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C880CE-326C-CDF4-0F20-74248933E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1C0C13-A1A0-C883-8A0B-219195ED15F8}"/>
              </a:ext>
            </a:extLst>
          </p:cNvPr>
          <p:cNvSpPr txBox="1"/>
          <p:nvPr/>
        </p:nvSpPr>
        <p:spPr>
          <a:xfrm>
            <a:off x="177282" y="197377"/>
            <a:ext cx="5918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kern="100" dirty="0" err="1">
                <a:solidFill>
                  <a:schemeClr val="accent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Inshights</a:t>
            </a:r>
            <a:endParaRPr lang="en-US" sz="3200" b="1" kern="100" dirty="0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4929F1-6E55-99FE-4C40-EB7FF291680B}"/>
              </a:ext>
            </a:extLst>
          </p:cNvPr>
          <p:cNvSpPr txBox="1"/>
          <p:nvPr/>
        </p:nvSpPr>
        <p:spPr>
          <a:xfrm>
            <a:off x="177282" y="782152"/>
            <a:ext cx="116997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4"/>
                </a:solidFill>
              </a:rPr>
              <a:t>1. Geographic </a:t>
            </a:r>
            <a:r>
              <a:rPr lang="en-US" b="1" dirty="0">
                <a:solidFill>
                  <a:schemeClr val="accent4"/>
                </a:solidFill>
                <a:latin typeface="Arial" panose="020B0604020202020204" pitchFamily="34" charset="0"/>
              </a:rPr>
              <a:t>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Top 5 Cities by Total Spend:</a:t>
            </a:r>
            <a:r>
              <a:rPr lang="en-US" dirty="0">
                <a:solidFill>
                  <a:schemeClr val="bg1"/>
                </a:solidFill>
              </a:rPr>
              <a:t> Mumbai, Bengaluru, Ahmedabad, Delhi, and Kolkata.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Highest Average Transaction Value: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Thodupuzha</a:t>
            </a:r>
            <a:r>
              <a:rPr lang="en-US" dirty="0">
                <a:solidFill>
                  <a:schemeClr val="bg1"/>
                </a:solidFill>
              </a:rPr>
              <a:t> ($0.30M), Nahan ($0.27M), Alwar ($0.27M), </a:t>
            </a:r>
            <a:r>
              <a:rPr lang="en-US" dirty="0" err="1">
                <a:solidFill>
                  <a:schemeClr val="bg1"/>
                </a:solidFill>
              </a:rPr>
              <a:t>Manendragarh</a:t>
            </a:r>
            <a:r>
              <a:rPr lang="en-US" dirty="0">
                <a:solidFill>
                  <a:schemeClr val="bg1"/>
                </a:solidFill>
              </a:rPr>
              <a:t> ($0.25M), and Vellore ($0.25M).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accent4"/>
                </a:solidFill>
              </a:rPr>
              <a:t>2. Customer Demographics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Spend Distribution by Gender:</a:t>
            </a:r>
            <a:r>
              <a:rPr lang="en-US" dirty="0">
                <a:solidFill>
                  <a:schemeClr val="bg1"/>
                </a:solidFill>
              </a:rPr>
              <a:t> Female cardholders contribute </a:t>
            </a:r>
            <a:r>
              <a:rPr lang="en-US" b="1" dirty="0">
                <a:solidFill>
                  <a:schemeClr val="bg1"/>
                </a:solidFill>
              </a:rPr>
              <a:t>57.13%</a:t>
            </a:r>
            <a:r>
              <a:rPr lang="en-US" dirty="0">
                <a:solidFill>
                  <a:schemeClr val="bg1"/>
                </a:solidFill>
              </a:rPr>
              <a:t> of total spending, while males contribute </a:t>
            </a:r>
            <a:r>
              <a:rPr lang="en-US" b="1" dirty="0">
                <a:solidFill>
                  <a:schemeClr val="bg1"/>
                </a:solidFill>
              </a:rPr>
              <a:t>42.87%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Category-wise Spending Split (% of Total Spend):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563912A-6521-AE62-F25A-D677D99BB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302498"/>
              </p:ext>
            </p:extLst>
          </p:nvPr>
        </p:nvGraphicFramePr>
        <p:xfrm>
          <a:off x="314961" y="3239294"/>
          <a:ext cx="6349998" cy="2560320"/>
        </p:xfrm>
        <a:graphic>
          <a:graphicData uri="http://schemas.openxmlformats.org/drawingml/2006/table">
            <a:tbl>
              <a:tblPr/>
              <a:tblGrid>
                <a:gridCol w="2116666">
                  <a:extLst>
                    <a:ext uri="{9D8B030D-6E8A-4147-A177-3AD203B41FA5}">
                      <a16:colId xmlns:a16="http://schemas.microsoft.com/office/drawing/2014/main" val="2346521461"/>
                    </a:ext>
                  </a:extLst>
                </a:gridCol>
                <a:gridCol w="2116666">
                  <a:extLst>
                    <a:ext uri="{9D8B030D-6E8A-4147-A177-3AD203B41FA5}">
                      <a16:colId xmlns:a16="http://schemas.microsoft.com/office/drawing/2014/main" val="4281241543"/>
                    </a:ext>
                  </a:extLst>
                </a:gridCol>
                <a:gridCol w="2116666">
                  <a:extLst>
                    <a:ext uri="{9D8B030D-6E8A-4147-A177-3AD203B41FA5}">
                      <a16:colId xmlns:a16="http://schemas.microsoft.com/office/drawing/2014/main" val="3194330831"/>
                    </a:ext>
                  </a:extLst>
                </a:gridCol>
              </a:tblGrid>
              <a:tr h="254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4"/>
                          </a:solidFill>
                        </a:rPr>
                        <a:t>Expense 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accent4"/>
                          </a:solidFill>
                        </a:rPr>
                        <a:t>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solidFill>
                            <a:schemeClr val="accent4"/>
                          </a:solidFill>
                        </a:rPr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833869"/>
                  </a:ext>
                </a:extLst>
              </a:tr>
              <a:tr h="254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4"/>
                          </a:solidFill>
                        </a:rPr>
                        <a:t>Bills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221660"/>
                  </a:ext>
                </a:extLst>
              </a:tr>
              <a:tr h="254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4"/>
                          </a:solidFill>
                        </a:rPr>
                        <a:t>Entertainment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154062"/>
                  </a:ext>
                </a:extLst>
              </a:tr>
              <a:tr h="254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4"/>
                          </a:solidFill>
                        </a:rPr>
                        <a:t>Food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402825"/>
                  </a:ext>
                </a:extLst>
              </a:tr>
              <a:tr h="254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4"/>
                          </a:solidFill>
                        </a:rPr>
                        <a:t>Fuel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2114050"/>
                  </a:ext>
                </a:extLst>
              </a:tr>
              <a:tr h="254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accent4"/>
                          </a:solidFill>
                        </a:rPr>
                        <a:t>Grocery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322174"/>
                  </a:ext>
                </a:extLst>
              </a:tr>
              <a:tr h="254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accent4"/>
                          </a:solidFill>
                        </a:rPr>
                        <a:t>Travel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3632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980CBE5-B3CF-7614-0FE9-F77A675F0C96}"/>
              </a:ext>
            </a:extLst>
          </p:cNvPr>
          <p:cNvSpPr txBox="1"/>
          <p:nvPr/>
        </p:nvSpPr>
        <p:spPr>
          <a:xfrm>
            <a:off x="314960" y="5934670"/>
            <a:ext cx="10068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Female cardholders spend more overall, particularly in </a:t>
            </a:r>
            <a:r>
              <a:rPr lang="en-US" b="1" dirty="0">
                <a:solidFill>
                  <a:schemeClr val="bg1"/>
                </a:solidFill>
              </a:rPr>
              <a:t>Bills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Food</a:t>
            </a:r>
            <a:r>
              <a:rPr lang="en-US" dirty="0">
                <a:solidFill>
                  <a:schemeClr val="bg1"/>
                </a:solidFill>
              </a:rPr>
              <a:t>, while spending patterns are similar across other categories.</a:t>
            </a:r>
          </a:p>
        </p:txBody>
      </p:sp>
    </p:spTree>
    <p:extLst>
      <p:ext uri="{BB962C8B-B14F-4D97-AF65-F5344CB8AC3E}">
        <p14:creationId xmlns:p14="http://schemas.microsoft.com/office/powerpoint/2010/main" val="549776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0941E0-AE23-CD04-6B92-E78BC134F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FAB487-BB92-A991-DE56-6B532225B76E}"/>
              </a:ext>
            </a:extLst>
          </p:cNvPr>
          <p:cNvSpPr txBox="1"/>
          <p:nvPr/>
        </p:nvSpPr>
        <p:spPr>
          <a:xfrm>
            <a:off x="235974" y="355724"/>
            <a:ext cx="1158010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4"/>
                </a:solidFill>
              </a:rPr>
              <a:t>3. Card Type Analysis</a:t>
            </a:r>
          </a:p>
          <a:p>
            <a:r>
              <a:rPr lang="en-US" b="1" dirty="0">
                <a:solidFill>
                  <a:schemeClr val="accent1"/>
                </a:solidFill>
              </a:rPr>
              <a:t>Highest Transaction Volume: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Silver</a:t>
            </a:r>
            <a:r>
              <a:rPr lang="en-US" dirty="0">
                <a:solidFill>
                  <a:schemeClr val="bg1"/>
                </a:solidFill>
              </a:rPr>
              <a:t> cards account for the largest share of transactions, contributing approximately </a:t>
            </a:r>
            <a:r>
              <a:rPr lang="en-US" b="1" dirty="0">
                <a:solidFill>
                  <a:schemeClr val="bg1"/>
                </a:solidFill>
              </a:rPr>
              <a:t>26.25%</a:t>
            </a:r>
            <a:r>
              <a:rPr lang="en-US" dirty="0">
                <a:solidFill>
                  <a:schemeClr val="bg1"/>
                </a:solidFill>
              </a:rPr>
              <a:t> of the total transaction volume. </a:t>
            </a:r>
          </a:p>
          <a:p>
            <a:r>
              <a:rPr lang="en-US" b="1" dirty="0">
                <a:solidFill>
                  <a:schemeClr val="accent1"/>
                </a:solidFill>
              </a:rPr>
              <a:t>Highest Spending Card Type: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Silver</a:t>
            </a:r>
            <a:r>
              <a:rPr lang="en-US" dirty="0">
                <a:solidFill>
                  <a:schemeClr val="bg1"/>
                </a:solidFill>
              </a:rPr>
              <a:t> cards also contribute the highest share of total spending. </a:t>
            </a:r>
          </a:p>
          <a:p>
            <a:r>
              <a:rPr lang="en-US" b="1" dirty="0">
                <a:solidFill>
                  <a:schemeClr val="accent1"/>
                </a:solidFill>
              </a:rPr>
              <a:t>Relationship Between Card Type and Expense Category: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Spending patterns are broadly consistent across all card types. </a:t>
            </a:r>
            <a:r>
              <a:rPr lang="en-US" b="1" dirty="0">
                <a:solidFill>
                  <a:schemeClr val="bg1"/>
                </a:solidFill>
              </a:rPr>
              <a:t>Bills</a:t>
            </a:r>
            <a:r>
              <a:rPr lang="en-US" dirty="0">
                <a:solidFill>
                  <a:schemeClr val="bg1"/>
                </a:solidFill>
              </a:rPr>
              <a:t> is among the highest spending categories, while </a:t>
            </a:r>
            <a:r>
              <a:rPr lang="en-US" b="1" dirty="0">
                <a:solidFill>
                  <a:schemeClr val="bg1"/>
                </a:solidFill>
              </a:rPr>
              <a:t>Travel</a:t>
            </a:r>
            <a:r>
              <a:rPr lang="en-US" dirty="0">
                <a:solidFill>
                  <a:schemeClr val="bg1"/>
                </a:solidFill>
              </a:rPr>
              <a:t> is the lowest across all card types. The category rankings remain similar, indicating </a:t>
            </a:r>
            <a:r>
              <a:rPr lang="en-US" b="1" dirty="0">
                <a:solidFill>
                  <a:schemeClr val="bg1"/>
                </a:solidFill>
              </a:rPr>
              <a:t>no strong correlation</a:t>
            </a:r>
            <a:r>
              <a:rPr lang="en-US" dirty="0">
                <a:solidFill>
                  <a:schemeClr val="bg1"/>
                </a:solidFill>
              </a:rPr>
              <a:t> between card type and expense category. 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accent4"/>
                </a:solidFill>
              </a:rPr>
              <a:t>4. Spending Category Analysis</a:t>
            </a:r>
          </a:p>
          <a:p>
            <a:r>
              <a:rPr lang="en-US" b="1" dirty="0">
                <a:solidFill>
                  <a:schemeClr val="accent1"/>
                </a:solidFill>
              </a:rPr>
              <a:t>Highest Spending Category: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Bills</a:t>
            </a:r>
            <a:r>
              <a:rPr lang="en-US" dirty="0">
                <a:solidFill>
                  <a:schemeClr val="bg1"/>
                </a:solidFill>
              </a:rPr>
              <a:t> is the largest expense category, accounting for approximately </a:t>
            </a:r>
            <a:r>
              <a:rPr lang="en-US" b="1" dirty="0">
                <a:solidFill>
                  <a:schemeClr val="bg1"/>
                </a:solidFill>
              </a:rPr>
              <a:t>22%</a:t>
            </a:r>
            <a:r>
              <a:rPr lang="en-US" dirty="0">
                <a:solidFill>
                  <a:schemeClr val="bg1"/>
                </a:solidFill>
              </a:rPr>
              <a:t> of total transaction value. 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>
              <a:spcBef>
                <a:spcPts val="1200"/>
              </a:spcBef>
              <a:spcAft>
                <a:spcPts val="500"/>
              </a:spcAft>
            </a:pPr>
            <a:endParaRPr lang="en-US" b="1" dirty="0">
              <a:solidFill>
                <a:schemeClr val="accent4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3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989AE3-3549-BC6A-8195-0267A959F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54A5C5-CB45-51AC-8DCE-ADDCF57BBBF7}"/>
              </a:ext>
            </a:extLst>
          </p:cNvPr>
          <p:cNvSpPr txBox="1"/>
          <p:nvPr/>
        </p:nvSpPr>
        <p:spPr>
          <a:xfrm>
            <a:off x="314960" y="273824"/>
            <a:ext cx="1174487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5. Time-Series Trends</a:t>
            </a:r>
          </a:p>
          <a:p>
            <a:r>
              <a:rPr lang="en-US" b="1" dirty="0">
                <a:solidFill>
                  <a:schemeClr val="accent1"/>
                </a:solidFill>
              </a:rPr>
              <a:t>Year-over-Year Spending Trends: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Card spending experienced significant growth in </a:t>
            </a:r>
            <a:r>
              <a:rPr lang="en-US" b="1" dirty="0">
                <a:solidFill>
                  <a:schemeClr val="bg1"/>
                </a:solidFill>
              </a:rPr>
              <a:t>2014</a:t>
            </a:r>
            <a:r>
              <a:rPr lang="en-US" dirty="0">
                <a:solidFill>
                  <a:schemeClr val="bg1"/>
                </a:solidFill>
              </a:rPr>
              <a:t>, reaching approximately </a:t>
            </a:r>
            <a:r>
              <a:rPr lang="en-US" b="1" dirty="0">
                <a:solidFill>
                  <a:schemeClr val="bg1"/>
                </a:solidFill>
              </a:rPr>
              <a:t>$0.6 billion</a:t>
            </a:r>
            <a:r>
              <a:rPr lang="en-US" dirty="0">
                <a:solidFill>
                  <a:schemeClr val="bg1"/>
                </a:solidFill>
              </a:rPr>
              <a:t>, an increase of </a:t>
            </a:r>
            <a:r>
              <a:rPr lang="en-US" b="1" dirty="0">
                <a:solidFill>
                  <a:schemeClr val="bg1"/>
                </a:solidFill>
              </a:rPr>
              <a:t>$0.4 billion</a:t>
            </a:r>
            <a:r>
              <a:rPr lang="en-US" dirty="0">
                <a:solidFill>
                  <a:schemeClr val="bg1"/>
                </a:solidFill>
              </a:rPr>
              <a:t> compared to the previous year. In </a:t>
            </a:r>
            <a:r>
              <a:rPr lang="en-US" b="1" dirty="0">
                <a:solidFill>
                  <a:schemeClr val="bg1"/>
                </a:solidFill>
              </a:rPr>
              <a:t>2015</a:t>
            </a:r>
            <a:r>
              <a:rPr lang="en-US" dirty="0">
                <a:solidFill>
                  <a:schemeClr val="bg1"/>
                </a:solidFill>
              </a:rPr>
              <a:t>, spending declined to approximately </a:t>
            </a:r>
            <a:r>
              <a:rPr lang="en-US" b="1" dirty="0">
                <a:solidFill>
                  <a:schemeClr val="bg1"/>
                </a:solidFill>
              </a:rPr>
              <a:t>$0.3 billion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b="1" dirty="0">
                <a:solidFill>
                  <a:schemeClr val="bg1"/>
                </a:solidFill>
              </a:rPr>
              <a:t>Seasonal Patterns: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Transaction activity is noticeably lower between </a:t>
            </a:r>
            <a:r>
              <a:rPr lang="en-US" b="1" dirty="0">
                <a:solidFill>
                  <a:schemeClr val="bg1"/>
                </a:solidFill>
              </a:rPr>
              <a:t>June and September</a:t>
            </a:r>
            <a:r>
              <a:rPr lang="en-US" dirty="0">
                <a:solidFill>
                  <a:schemeClr val="bg1"/>
                </a:solidFill>
              </a:rPr>
              <a:t>, averaging around </a:t>
            </a:r>
            <a:r>
              <a:rPr lang="en-US" b="1" dirty="0">
                <a:solidFill>
                  <a:schemeClr val="bg1"/>
                </a:solidFill>
              </a:rPr>
              <a:t>$50 million</a:t>
            </a:r>
            <a:r>
              <a:rPr lang="en-US" dirty="0">
                <a:solidFill>
                  <a:schemeClr val="bg1"/>
                </a:solidFill>
              </a:rPr>
              <a:t> per month. During the remaining months, average spending is approximately </a:t>
            </a:r>
            <a:r>
              <a:rPr lang="en-US" b="1" dirty="0">
                <a:solidFill>
                  <a:schemeClr val="bg1"/>
                </a:solidFill>
              </a:rPr>
              <a:t>$100 million</a:t>
            </a:r>
            <a:r>
              <a:rPr lang="en-US" dirty="0">
                <a:solidFill>
                  <a:schemeClr val="bg1"/>
                </a:solidFill>
              </a:rPr>
              <a:t> per month. </a:t>
            </a:r>
          </a:p>
          <a:p>
            <a:r>
              <a:rPr lang="en-US" b="1" dirty="0">
                <a:solidFill>
                  <a:schemeClr val="accent1"/>
                </a:solidFill>
              </a:rPr>
              <a:t>Peak and Lowest Transaction Months:</a:t>
            </a:r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Highest Transaction Volume:</a:t>
            </a:r>
            <a:r>
              <a:rPr lang="en-US" dirty="0">
                <a:solidFill>
                  <a:schemeClr val="bg1"/>
                </a:solidFill>
              </a:rPr>
              <a:t> October </a:t>
            </a:r>
          </a:p>
          <a:p>
            <a:pPr lvl="1"/>
            <a:r>
              <a:rPr lang="en-US" b="1" dirty="0">
                <a:solidFill>
                  <a:schemeClr val="bg1"/>
                </a:solidFill>
              </a:rPr>
              <a:t>Lowest Transaction Volume:</a:t>
            </a:r>
            <a:r>
              <a:rPr lang="en-US" dirty="0">
                <a:solidFill>
                  <a:schemeClr val="bg1"/>
                </a:solidFill>
              </a:rPr>
              <a:t> June </a:t>
            </a:r>
          </a:p>
          <a:p>
            <a:r>
              <a:rPr lang="en-US" b="1" dirty="0">
                <a:solidFill>
                  <a:schemeClr val="accent1"/>
                </a:solidFill>
              </a:rPr>
              <a:t>Key Insight</a:t>
            </a:r>
          </a:p>
          <a:p>
            <a:r>
              <a:rPr lang="en-US" dirty="0">
                <a:solidFill>
                  <a:schemeClr val="bg1"/>
                </a:solidFill>
              </a:rPr>
              <a:t>Card usage is dominated by </a:t>
            </a:r>
            <a:r>
              <a:rPr lang="en-US" b="1" dirty="0">
                <a:solidFill>
                  <a:schemeClr val="bg1"/>
                </a:solidFill>
              </a:rPr>
              <a:t>Silver cards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b="1" dirty="0">
                <a:solidFill>
                  <a:schemeClr val="bg1"/>
                </a:solidFill>
              </a:rPr>
              <a:t>Bills</a:t>
            </a:r>
            <a:r>
              <a:rPr lang="en-US" dirty="0">
                <a:solidFill>
                  <a:schemeClr val="bg1"/>
                </a:solidFill>
              </a:rPr>
              <a:t> is the primary spending category, and spending exhibits a clear seasonal dip from </a:t>
            </a:r>
            <a:r>
              <a:rPr lang="en-US" b="1" dirty="0">
                <a:solidFill>
                  <a:schemeClr val="bg1"/>
                </a:solidFill>
              </a:rPr>
              <a:t>June to September</a:t>
            </a:r>
            <a:r>
              <a:rPr lang="en-US" dirty="0">
                <a:solidFill>
                  <a:schemeClr val="bg1"/>
                </a:solidFill>
              </a:rPr>
              <a:t>, with </a:t>
            </a:r>
            <a:r>
              <a:rPr lang="en-US" b="1" dirty="0">
                <a:solidFill>
                  <a:schemeClr val="bg1"/>
                </a:solidFill>
              </a:rPr>
              <a:t>October</a:t>
            </a:r>
            <a:r>
              <a:rPr lang="en-US" dirty="0">
                <a:solidFill>
                  <a:schemeClr val="bg1"/>
                </a:solidFill>
              </a:rPr>
              <a:t> recording the highest transaction activity.</a:t>
            </a:r>
          </a:p>
        </p:txBody>
      </p:sp>
    </p:spTree>
    <p:extLst>
      <p:ext uri="{BB962C8B-B14F-4D97-AF65-F5344CB8AC3E}">
        <p14:creationId xmlns:p14="http://schemas.microsoft.com/office/powerpoint/2010/main" val="2541404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AC0533-923F-DDCB-F5F9-ED81C7BCF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23BF93-2473-AA81-915F-D45920F14CE1}"/>
              </a:ext>
            </a:extLst>
          </p:cNvPr>
          <p:cNvSpPr txBox="1">
            <a:spLocks/>
          </p:cNvSpPr>
          <p:nvPr/>
        </p:nvSpPr>
        <p:spPr>
          <a:xfrm>
            <a:off x="4369837" y="2904510"/>
            <a:ext cx="3010678" cy="855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9205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653</Words>
  <Application>Microsoft Office PowerPoint</Application>
  <PresentationFormat>Widescreen</PresentationFormat>
  <Paragraphs>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Credit Card Transaction Analysis using Power BI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Yadav</dc:creator>
  <cp:lastModifiedBy>Alok Yadav</cp:lastModifiedBy>
  <cp:revision>31</cp:revision>
  <dcterms:created xsi:type="dcterms:W3CDTF">2026-03-31T16:43:34Z</dcterms:created>
  <dcterms:modified xsi:type="dcterms:W3CDTF">2026-06-18T07:38:01Z</dcterms:modified>
</cp:coreProperties>
</file>